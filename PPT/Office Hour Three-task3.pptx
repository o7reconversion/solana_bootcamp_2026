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5" r:id="rId3"/>
    <p:sldId id="266" r:id="rId5"/>
    <p:sldId id="274" r:id="rId6"/>
    <p:sldId id="257" r:id="rId7"/>
    <p:sldId id="258" r:id="rId8"/>
    <p:sldId id="259" r:id="rId9"/>
    <p:sldId id="260" r:id="rId10"/>
    <p:sldId id="261" r:id="rId11"/>
    <p:sldId id="262" r:id="rId12"/>
    <p:sldId id="268" r:id="rId13"/>
    <p:sldId id="263" r:id="rId14"/>
    <p:sldId id="264" r:id="rId15"/>
    <p:sldId id="265" r:id="rId16"/>
    <p:sldId id="270" r:id="rId17"/>
    <p:sldId id="276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ae442ff897ecb0c469898e65dfee5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ingFang SC" panose="020B0400000000000000" charset="-122"/>
              </a:rPr>
              <a:t>目录</a:t>
            </a:r>
            <a:endParaRPr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28016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9601200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en-US"/>
              <a:t>Task3</a:t>
            </a:r>
            <a:r>
              <a:rPr lang="zh-CN" altLang="en-US"/>
              <a:t>作业讲解</a:t>
            </a:r>
            <a:endParaRPr lang="zh-CN" altLang="en-US"/>
          </a:p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en-US"/>
              <a:t>PDA</a:t>
            </a:r>
            <a:r>
              <a:rPr lang="zh-CN" altLang="en-US"/>
              <a:t>与</a:t>
            </a:r>
            <a:r>
              <a:rPr lang="en-US" altLang="zh-CN"/>
              <a:t>ATA</a:t>
            </a:r>
            <a:endParaRPr lang="en-US" altLang="zh-CN"/>
          </a:p>
          <a:p>
            <a:pPr>
              <a:spcAft>
                <a:spcPts val="800"/>
              </a:spcAft>
              <a:defRPr sz="24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在线答疑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890270"/>
            <a:ext cx="7772400" cy="1470025"/>
          </a:xfrm>
        </p:spPr>
        <p:txBody>
          <a:bodyPr/>
          <a:lstStyle/>
          <a:p>
            <a:pPr algn="ctr"/>
            <a:r>
              <a:rPr lang="en-US">
                <a:solidFill>
                  <a:srgbClr val="F0F4F8"/>
                </a:solidFill>
              </a:rPr>
              <a:t>Task3 </a:t>
            </a:r>
            <a:r>
              <a:rPr>
                <a:solidFill>
                  <a:srgbClr val="F0F4F8"/>
                </a:solidFill>
              </a:rPr>
              <a:t>Anchor 托管作业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429000"/>
            <a:ext cx="6400800" cy="1752600"/>
          </a:xfrm>
        </p:spPr>
        <p:txBody>
          <a:bodyPr/>
          <a:lstStyle/>
          <a:p>
            <a:pPr>
              <a:defRPr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blueshift_anchor_escrow</a:t>
            </a:r>
            <a:endParaRPr>
              <a:solidFill>
                <a:srgbClr val="F0F4F8"/>
              </a:solidFill>
            </a:endParaRPr>
          </a:p>
          <a:p>
            <a:pPr>
              <a:defRPr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Make / Take / Refund</a:t>
            </a:r>
            <a:endParaRPr>
              <a:solidFill>
                <a:srgbClr val="F0F4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0040"/>
            <a:ext cx="2558415" cy="822960"/>
          </a:xfrm>
        </p:spPr>
        <p:txBody>
          <a:bodyPr>
            <a:normAutofit/>
          </a:bodyPr>
          <a:lstStyle/>
          <a:p>
            <a:pPr algn="l"/>
            <a:r>
              <a:rPr sz="2890">
                <a:solidFill>
                  <a:srgbClr val="F0F4F8"/>
                </a:solidFill>
              </a:rPr>
              <a:t>目标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847080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使用 Anchor 构建安全的代币交换托管服务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三条核心指令：Make / Take / Refund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自定义指令鉴别器：0/1/2；账户鉴别器：1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基于 token_interface 支持 SPL Token/Token-2022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通过 PDA + ATA 保证资金安全与可验证性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15" y="274320"/>
            <a:ext cx="2978150" cy="868680"/>
          </a:xfrm>
        </p:spPr>
        <p:txBody>
          <a:bodyPr>
            <a:normAutofit/>
          </a:bodyPr>
          <a:lstStyle/>
          <a:p>
            <a:pPr algn="ctr"/>
            <a:r>
              <a:rPr sz="2890">
                <a:solidFill>
                  <a:srgbClr val="F0F4F8"/>
                </a:solidFill>
              </a:rPr>
              <a:t>账户与状态设计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50175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Escrow 状态字段：seed / maker / mint_a / mint_b / receive / bump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PDA 派生：["escrow", maker, seed_le] + bump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Vault：ATA(mint_a, escrow) 由 escrow PDA 作为 authority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Maker/Taker ATA：使用 associated_token_program 创建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Take/Refund 中 escrow 可关闭并返还租金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920" y="274320"/>
            <a:ext cx="2387600" cy="822960"/>
          </a:xfrm>
        </p:spPr>
        <p:txBody>
          <a:bodyPr>
            <a:normAutofit/>
          </a:bodyPr>
          <a:lstStyle/>
          <a:p>
            <a:pPr algn="ctr"/>
            <a:r>
              <a:rPr sz="2890">
                <a:solidFill>
                  <a:srgbClr val="F0F4F8"/>
                </a:solidFill>
              </a:rPr>
              <a:t>总体流程图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Maker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(创建者)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017520" y="146304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Make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(创建报价)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0" y="146304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Escrow + Vault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锁定 Token A</a:t>
            </a:r>
            <a:endParaRPr>
              <a:solidFill>
                <a:srgbClr val="F0F4F8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743200" y="18745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12080" y="18745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92608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Taker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(接受者)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17520" y="292608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Take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(接受报价)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0" y="292608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交换完成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B→Maker / A→Taker</a:t>
            </a:r>
            <a:endParaRPr>
              <a:solidFill>
                <a:srgbClr val="F0F4F8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3337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12080" y="3337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438912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Refund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(取消报价)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0" y="4389120"/>
            <a:ext cx="2194560" cy="8229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退回 Token A</a:t>
            </a:r>
            <a:endParaRPr>
              <a:solidFill>
                <a:srgbClr val="F0F4F8"/>
              </a:solidFill>
            </a:endParaRPr>
          </a:p>
          <a:p>
            <a:pPr algn="ctr">
              <a:defRPr sz="14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关闭 Vault + Escrow</a:t>
            </a:r>
            <a:endParaRPr>
              <a:solidFill>
                <a:srgbClr val="F0F4F8"/>
              </a:solidFill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48006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040" y="274320"/>
            <a:ext cx="2327275" cy="822960"/>
          </a:xfrm>
        </p:spPr>
        <p:txBody>
          <a:bodyPr>
            <a:normAutofit/>
          </a:bodyPr>
          <a:lstStyle/>
          <a:p>
            <a:pPr algn="ctr"/>
            <a:r>
              <a:rPr sz="2890">
                <a:solidFill>
                  <a:srgbClr val="F0F4F8"/>
                </a:solidFill>
              </a:rPr>
              <a:t>Make 流程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082790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校验参数：receive 与 deposit &gt; 0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初始化 Escrow PDA（保存 seed/mint/maker/receive/bump）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创建 Vault ATA（authority=escrow）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transfer_checked：maker_ata_a → vault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完成后：报价生效，Token A 被锁定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274320"/>
            <a:ext cx="2346960" cy="822960"/>
          </a:xfrm>
        </p:spPr>
        <p:txBody>
          <a:bodyPr>
            <a:normAutofit/>
          </a:bodyPr>
          <a:lstStyle/>
          <a:p>
            <a:pPr algn="ctr"/>
            <a:r>
              <a:rPr sz="2890">
                <a:solidFill>
                  <a:srgbClr val="F0F4F8"/>
                </a:solidFill>
              </a:rPr>
              <a:t>Take 流程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934835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taker 付款：transfer_checked (taker_ata_b → maker_ata_b)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escrow PDA 签名：vault → taker_ata_a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关闭 Vault，返还 lamports 给 maker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关闭 Escrow，交易完成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taker/maker 的 ATA 可 init_if_needed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015" y="274320"/>
            <a:ext cx="2607945" cy="822960"/>
          </a:xfrm>
        </p:spPr>
        <p:txBody>
          <a:bodyPr>
            <a:normAutofit/>
          </a:bodyPr>
          <a:lstStyle/>
          <a:p>
            <a:pPr algn="ctr"/>
            <a:r>
              <a:rPr sz="2890">
                <a:solidFill>
                  <a:srgbClr val="F0F4F8"/>
                </a:solidFill>
              </a:rPr>
              <a:t>Refund 流程</a:t>
            </a:r>
            <a:endParaRPr sz="289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74920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refund：vault → maker_ata_a（如有余额）</a:t>
            </a:r>
            <a:endParaRPr>
              <a:solidFill>
                <a:srgbClr val="F0F4F8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rgbClr val="F0F4F8"/>
                </a:solidFill>
              </a:rPr>
              <a:t>关闭 Vault + Escrow，返还租金</a:t>
            </a:r>
            <a:endParaRPr>
              <a:solidFill>
                <a:srgbClr val="F0F4F8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01168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F4F8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165" y="2360295"/>
            <a:ext cx="7772400" cy="14700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sym typeface="+mn-ea"/>
              </a:rPr>
              <a:t>PDA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与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ATA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9740"/>
            <a:ext cx="2115820" cy="774700"/>
          </a:xfrm>
        </p:spPr>
        <p:txBody>
          <a:bodyPr/>
          <a:lstStyle/>
          <a:p>
            <a:pPr algn="l"/>
            <a:r>
              <a:rPr sz="2200">
                <a:solidFill>
                  <a:srgbClr val="F0F4F8"/>
                </a:solidFill>
              </a:rPr>
              <a:t>PDA 讲解</a:t>
            </a:r>
            <a:endParaRPr sz="220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075805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PDA（Program Derived Address）是由程序+种子派生的地址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不对应私钥，无法被外部签名控制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用于让程序安全地持有与管理资产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派生方式：seeds + program_id + bump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60375"/>
            <a:ext cx="2363470" cy="774065"/>
          </a:xfrm>
        </p:spPr>
        <p:txBody>
          <a:bodyPr/>
          <a:lstStyle/>
          <a:p>
            <a:pPr algn="l"/>
            <a:r>
              <a:rPr sz="2200">
                <a:solidFill>
                  <a:srgbClr val="F0F4F8"/>
                </a:solidFill>
              </a:rPr>
              <a:t>ATA 讲解</a:t>
            </a:r>
            <a:endParaRPr sz="220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215" y="1786255"/>
            <a:ext cx="6501130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ATA（Associated Token Account）是标准化的代币账户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由 mint + owner + ATA program 唯一确定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可自动创建，减少手动管理 token account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保证同一 owner + mint 只有一个标准账户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本作业中 maker/taker/vault 都使用 ATA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27685"/>
            <a:ext cx="1883410" cy="614680"/>
          </a:xfrm>
        </p:spPr>
        <p:txBody>
          <a:bodyPr/>
          <a:lstStyle/>
          <a:p>
            <a:pPr algn="l"/>
            <a:r>
              <a:rPr sz="2200">
                <a:solidFill>
                  <a:srgbClr val="F0F4F8"/>
                </a:solidFill>
              </a:rPr>
              <a:t>PDA vs ATA</a:t>
            </a:r>
            <a:endParaRPr sz="2200">
              <a:solidFill>
                <a:srgbClr val="F0F4F8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1510" y="1675765"/>
            <a:ext cx="6720205" cy="2399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目的：PDA 管理权限；ATA 管理代币账户位置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控制权：PDA 无私钥，仅程序可签名；ATA 由 owner 控制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派生依据：PDA=seeds+program_id；ATA=mint+owner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关系：ATA 的 authority 可以是 PDA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</a:defRPr>
            </a:pPr>
            <a:r>
              <a:rPr>
                <a:solidFill>
                  <a:schemeClr val="bg1"/>
                </a:solidFill>
              </a:rPr>
              <a:t>在托管中：PDA 做“锁”，ATA 做“容器”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194560" cy="54864"/>
          </a:xfrm>
          <a:prstGeom prst="rect">
            <a:avLst/>
          </a:prstGeom>
          <a:solidFill>
            <a:srgbClr val="14E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165" y="2360295"/>
            <a:ext cx="7772400" cy="1470025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  <a:sym typeface="+mn-ea"/>
              </a:rPr>
              <a:t>在线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答疑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46480" cy="6140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PingFang SC" panose="020B0400000000000000" charset="-122"/>
              </a:rPr>
              <a:t>资料</a:t>
            </a:r>
            <a:endParaRPr lang="zh-CN" sz="34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54864"/>
          </a:xfrm>
          <a:prstGeom prst="rect">
            <a:avLst/>
          </a:prstGeom>
          <a:solidFill>
            <a:srgbClr val="58E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2809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t>• </a:t>
            </a:r>
            <a:r>
              <a:rPr lang="zh-CN" altLang="en-US"/>
              <a:t>课程安排及作业</a:t>
            </a:r>
            <a:r>
              <a:rPr lang="en-US" altLang="zh-CN"/>
              <a:t>：https://github.com/Solana-ZH/Solana-bootcamp-2026-s1</a:t>
            </a:r>
            <a:endParaRPr lang="en-US" altLang="zh-CN"/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</a:t>
            </a:r>
            <a:r>
              <a:rPr lang="en-US" altLang="zh-CN"/>
              <a:t> </a:t>
            </a:r>
            <a:r>
              <a:rPr lang="zh-CN" altLang="en-US"/>
              <a:t>领水</a:t>
            </a:r>
            <a:r>
              <a:rPr lang="en-US" altLang="zh-CN"/>
              <a:t>：https://faucet.solana.com/</a:t>
            </a:r>
            <a:endParaRPr lang="en-US" altLang="zh-CN"/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en-US" altLang="zh-CN">
                <a:sym typeface="+mn-ea"/>
              </a:rPr>
              <a:t>Task3：https://learn.blueshift.gg/zh-CN/challenges/anchor-escrow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en-US" altLang="zh-CN">
                <a:sym typeface="+mn-ea"/>
              </a:rPr>
              <a:t>Solana</a:t>
            </a:r>
            <a:r>
              <a:rPr lang="zh-CN" altLang="en-US">
                <a:sym typeface="+mn-ea"/>
              </a:rPr>
              <a:t>中文文档</a:t>
            </a:r>
            <a:r>
              <a:rPr lang="en-US" altLang="zh-CN">
                <a:sym typeface="+mn-ea"/>
              </a:rPr>
              <a:t>: https://solana.com/zh/docs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defRPr sz="2000">
                <a:solidFill>
                  <a:srgbClr val="E0E8F2"/>
                </a:solidFill>
                <a:latin typeface="PingFang SC" panose="020B0400000000000000" charset="-122"/>
              </a:defRPr>
            </a:pPr>
            <a:r>
              <a:rPr>
                <a:sym typeface="+mn-ea"/>
              </a:rPr>
              <a:t>• </a:t>
            </a:r>
            <a:r>
              <a:rPr lang="en-US">
                <a:sym typeface="+mn-ea"/>
              </a:rPr>
              <a:t>Task</a:t>
            </a:r>
            <a:r>
              <a:rPr lang="zh-CN" altLang="en-US">
                <a:sym typeface="+mn-ea"/>
              </a:rPr>
              <a:t>包</a:t>
            </a:r>
            <a:r>
              <a:rPr lang="en-US" altLang="zh-CN">
                <a:sym typeface="+mn-ea"/>
              </a:rPr>
              <a:t>：https://github.com/Tools-touch/Task-/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D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165" y="2360295"/>
            <a:ext cx="7772400" cy="1470025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  <a:sym typeface="+mn-ea"/>
              </a:rPr>
              <a:t>结束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WPS 演示</Application>
  <PresentationFormat>On-screen Show (4:3)</PresentationFormat>
  <Paragraphs>112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宋体-简</vt:lpstr>
      <vt:lpstr>微软雅黑</vt:lpstr>
      <vt:lpstr>汉仪旗黑</vt:lpstr>
      <vt:lpstr>宋体</vt:lpstr>
      <vt:lpstr>Arial Unicode MS</vt:lpstr>
      <vt:lpstr>Office Theme</vt:lpstr>
      <vt:lpstr>PowerPoint 演示文稿</vt:lpstr>
      <vt:lpstr>PowerPoint 演示文稿</vt:lpstr>
      <vt:lpstr>Task3 Anchor 托管作业</vt:lpstr>
      <vt:lpstr>目标</vt:lpstr>
      <vt:lpstr>账户与状态设计</vt:lpstr>
      <vt:lpstr>总体流程图</vt:lpstr>
      <vt:lpstr>Make 流程</vt:lpstr>
      <vt:lpstr>Take 流程</vt:lpstr>
      <vt:lpstr>Refund 流程</vt:lpstr>
      <vt:lpstr>PDA与ATA</vt:lpstr>
      <vt:lpstr>PDA 讲解</vt:lpstr>
      <vt:lpstr>ATA 讲解</vt:lpstr>
      <vt:lpstr>PDA vs ATA</vt:lpstr>
      <vt:lpstr>在线答疑</vt:lpstr>
      <vt:lpstr>PowerPoint 演示文稿</vt:lpstr>
      <vt:lpstr>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CatCode</cp:lastModifiedBy>
  <cp:revision>55</cp:revision>
  <dcterms:created xsi:type="dcterms:W3CDTF">2026-01-23T11:43:11Z</dcterms:created>
  <dcterms:modified xsi:type="dcterms:W3CDTF">2026-01-23T11:43:11Z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C36F5FC97804071F92F66D6995C590A1_42</vt:lpwstr>
  </property>
  <property fmtid="{D5CDD505-2E9C-101B-9397-08002B2CF9AE}" pid="3" name="KSOProductBuildVer">
    <vt:lpwstr>2052-6.12.2.8699</vt:lpwstr>
  </property>
</Properties>
</file>