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3" r:id="rId5"/>
    <p:sldId id="257" r:id="rId6"/>
    <p:sldId id="258" r:id="rId7"/>
    <p:sldId id="266" r:id="rId8"/>
    <p:sldId id="267" r:id="rId9"/>
    <p:sldId id="259" r:id="rId10"/>
    <p:sldId id="260" r:id="rId11"/>
    <p:sldId id="261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34515" y="1461135"/>
            <a:ext cx="8011160" cy="21228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4400">
                <a:solidFill>
                  <a:srgbClr val="E0E8F2"/>
                </a:solidFill>
                <a:latin typeface="PingFang SC" panose="020B0400000000000000" charset="-122"/>
                <a:sym typeface="+mn-ea"/>
              </a:rPr>
              <a:t>Solana Developer Bootcamps </a:t>
            </a:r>
            <a:endParaRPr sz="4400">
              <a:solidFill>
                <a:srgbClr val="E0E8F2"/>
              </a:solidFill>
              <a:latin typeface="PingFang SC" panose="020B0400000000000000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sz="4400">
                <a:solidFill>
                  <a:srgbClr val="E0E8F2"/>
                </a:solidFill>
                <a:latin typeface="PingFang SC" panose="020B0400000000000000" charset="-122"/>
                <a:sym typeface="+mn-ea"/>
              </a:rPr>
              <a:t>Office Hour</a:t>
            </a:r>
            <a:r>
              <a:rPr lang="en-US" sz="4400">
                <a:solidFill>
                  <a:srgbClr val="E0E8F2"/>
                </a:solidFill>
                <a:latin typeface="PingFang SC" panose="020B0400000000000000" charset="-122"/>
                <a:sym typeface="+mn-ea"/>
              </a:rPr>
              <a:t> one</a:t>
            </a:r>
            <a:endParaRPr lang="en-US" sz="4400">
              <a:solidFill>
                <a:srgbClr val="E0E8F2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59480" y="4598035"/>
            <a:ext cx="476186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rgbClr val="E0E8F2"/>
                </a:solidFill>
                <a:latin typeface="PingFang SC" panose="020B0400000000000000" charset="-122"/>
              </a:rPr>
              <a:t>SPL Token · web3.js · 实战问题速解</a:t>
            </a:r>
            <a:endParaRPr sz="2000">
              <a:solidFill>
                <a:srgbClr val="E0E8F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图片 3" descr="4655f555-e13b-4d87-acc0-70ec332fd83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010" y="3754755"/>
            <a:ext cx="2059305" cy="2059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485" y="462915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000" spc="-15" dirty="0">
                <a:solidFill>
                  <a:schemeClr val="bg1"/>
                </a:solidFill>
                <a:sym typeface="+mn-ea"/>
              </a:rPr>
              <a:t>助教简介</a:t>
            </a:r>
            <a:endParaRPr lang="zh-CN" altLang="en-US" sz="3000" spc="-15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9385" y="28454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</a:rPr>
              <a:t>代码猫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9385" y="39446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 dirty="0">
                <a:solidFill>
                  <a:schemeClr val="bg1"/>
                </a:solidFill>
                <a:latin typeface="宋体"/>
                <a:cs typeface="宋体"/>
                <a:sym typeface="+mn-ea"/>
              </a:rPr>
              <a:t>X:</a:t>
            </a:r>
            <a:r>
              <a:rPr sz="2400" spc="-25" dirty="0">
                <a:solidFill>
                  <a:schemeClr val="bg1"/>
                </a:solidFill>
                <a:latin typeface="宋体"/>
                <a:cs typeface="宋体"/>
                <a:sym typeface="+mn-ea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宋体"/>
                <a:cs typeface="宋体"/>
                <a:sym typeface="+mn-ea"/>
              </a:rPr>
              <a:t>@</a:t>
            </a:r>
            <a:r>
              <a:rPr lang="en-US" altLang="en-US" sz="2400" spc="-10" dirty="0">
                <a:solidFill>
                  <a:schemeClr val="bg1"/>
                </a:solidFill>
                <a:latin typeface="宋体"/>
                <a:cs typeface="宋体"/>
                <a:sym typeface="+mn-ea"/>
              </a:rPr>
              <a:t>0xCodecat</a:t>
            </a:r>
            <a:endParaRPr lang="en-US" altLang="en-US" sz="2400" spc="-10" dirty="0">
              <a:solidFill>
                <a:schemeClr val="bg1"/>
              </a:solidFill>
              <a:latin typeface="宋体"/>
              <a:cs typeface="宋体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0010" y="4722495"/>
            <a:ext cx="48431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全栈开发者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Rust</a:t>
            </a:r>
            <a:r>
              <a:rPr lang="zh-CN" altLang="en-US" sz="2400">
                <a:solidFill>
                  <a:schemeClr val="bg1"/>
                </a:solidFill>
              </a:rPr>
              <a:t>、</a:t>
            </a:r>
            <a:r>
              <a:rPr lang="en-US" altLang="zh-CN" sz="2400">
                <a:solidFill>
                  <a:schemeClr val="bg1"/>
                </a:solidFill>
              </a:rPr>
              <a:t>Python</a:t>
            </a:r>
            <a:r>
              <a:rPr lang="zh-CN" altLang="en-US" sz="2400">
                <a:solidFill>
                  <a:schemeClr val="bg1"/>
                </a:solidFill>
              </a:rPr>
              <a:t>、</a:t>
            </a:r>
            <a:r>
              <a:rPr lang="en-US" altLang="zh-CN" sz="2400">
                <a:solidFill>
                  <a:schemeClr val="bg1"/>
                </a:solidFill>
              </a:rPr>
              <a:t>Nodejs</a:t>
            </a:r>
            <a:r>
              <a:rPr lang="zh-CN" altLang="en-US" sz="2400">
                <a:solidFill>
                  <a:schemeClr val="bg1"/>
                </a:solidFill>
              </a:rPr>
              <a:t>、</a:t>
            </a:r>
            <a:r>
              <a:rPr lang="en-US" altLang="zh-CN" sz="2400">
                <a:solidFill>
                  <a:schemeClr val="bg1"/>
                </a:solidFill>
              </a:rPr>
              <a:t>React/Vue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目录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28016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环境部署</a:t>
            </a:r>
          </a:p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铸造 SPL Token</a:t>
            </a:r>
          </a:p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Cargo 编写合约</a:t>
            </a:r>
          </a:p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在线答疑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环境部署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2040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Solana CLI / Anchor / Node.js 版本对齐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本地 Validator 与 devnet 配置切换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Keypair 与环境变量安全管理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常用命令：airdrop / balance / logs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zh-CN" altLang="en-US"/>
              <a:t>在线</a:t>
            </a:r>
            <a:r>
              <a:rPr lang="en-US" altLang="zh-CN"/>
              <a:t>IDE：https://beta.solpg.io/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910080" cy="6140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zh-CN" sz="3400">
                <a:solidFill>
                  <a:schemeClr val="bg1"/>
                </a:solidFill>
                <a:sym typeface="+mn-ea"/>
              </a:rPr>
              <a:t>网络配置</a:t>
            </a:r>
            <a:endParaRPr lang="zh-CN" sz="3400" b="1">
              <a:solidFill>
                <a:schemeClr val="bg1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6664325" cy="121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zh-CN"/>
              <a:t>网络</a:t>
            </a:r>
            <a:r>
              <a:rPr lang="zh-CN"/>
              <a:t>配置</a:t>
            </a:r>
            <a:endParaRPr 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 lang="zh-CN"/>
              <a:t>使用管理员身份打开代理工具</a:t>
            </a:r>
            <a:r>
              <a:rPr lang="en-US" altLang="zh-CN"/>
              <a:t>，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 lang="zh-CN" altLang="en-US"/>
              <a:t>点击虚拟网卡模式</a:t>
            </a:r>
            <a:r>
              <a:rPr lang="en-US" altLang="zh-CN"/>
              <a:t>，</a:t>
            </a:r>
            <a:r>
              <a:rPr lang="zh-CN" altLang="en-US"/>
              <a:t>打开</a:t>
            </a:r>
            <a:r>
              <a:rPr lang="zh-CN" altLang="en-US"/>
              <a:t>虚拟网卡</a:t>
            </a:r>
            <a:endParaRPr lang="zh-CN" altLang="en-US"/>
          </a:p>
        </p:txBody>
      </p:sp>
      <p:pic>
        <p:nvPicPr>
          <p:cNvPr id="6" name="图片 5" descr="2588993da98077c5c750b7479ae703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3140075"/>
            <a:ext cx="5772150" cy="2714625"/>
          </a:xfrm>
          <a:prstGeom prst="rect">
            <a:avLst/>
          </a:prstGeom>
        </p:spPr>
      </p:pic>
      <p:pic>
        <p:nvPicPr>
          <p:cNvPr id="7" name="图片 6" descr="4572b4ef06d0aeda3499ddcc450fb5c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30" y="1542415"/>
            <a:ext cx="5978525" cy="10991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环境部署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927100" y="2484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~/.cargo/bin/avm use 0.31.0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2965" y="3429000"/>
            <a:ext cx="80949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echo 'export PATH="/home/jaredrain/.local/share/solana/install/active_release/bin:$PATH"' &gt;&gt; ~/.bashrc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echo 'export PATH="$HOME/.cargo/bin:$PATH"' &gt;&gt; ~/.bashrc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source ~/.bashrc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6052185" cy="6140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zh-CN" altLang="en-US" sz="3400" b="1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使用</a:t>
            </a:r>
            <a:r>
              <a:rPr lang="en-US" altLang="zh-CN" sz="3400" b="1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Web3.js </a:t>
            </a:r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铸造 SPL Token</a:t>
            </a:r>
            <a:endParaRPr lang="en-US" altLang="zh-CN"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121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创建 Mint 与 ATA，配置 decimals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Cargo 编写合约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Program 结构：指令、账户、错误码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Cargo.toml 依赖与 features 管理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BPF 编译、部署与升级策略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在线答疑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121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en-US"/>
              <a:t>WSL</a:t>
            </a:r>
            <a:r>
              <a:rPr lang="zh-CN" altLang="en-US"/>
              <a:t>的配置</a:t>
            </a:r>
            <a:r>
              <a:rPr lang="en-US" altLang="zh-CN"/>
              <a:t>SOL</a:t>
            </a:r>
            <a:r>
              <a:rPr lang="zh-CN" altLang="en-US"/>
              <a:t>环境</a:t>
            </a: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zh-CN" altLang="en-US"/>
              <a:t>作业</a:t>
            </a:r>
            <a:r>
              <a:rPr lang="en-US" altLang="zh-CN"/>
              <a:t> 1 </a:t>
            </a:r>
            <a:r>
              <a:rPr lang="zh-CN" altLang="en-US"/>
              <a:t>花</a:t>
            </a:r>
            <a:r>
              <a:rPr lang="en-US" altLang="zh-CN"/>
              <a:t> 1 </a:t>
            </a:r>
            <a:r>
              <a:rPr lang="zh-CN" altLang="en-US"/>
              <a:t>美元铸造的那个</a:t>
            </a:r>
            <a:r>
              <a:rPr lang="en-US" altLang="zh-CN"/>
              <a:t> NFT </a:t>
            </a:r>
            <a:r>
              <a:rPr lang="zh-CN" altLang="en-US"/>
              <a:t>有啥用？</a:t>
            </a:r>
            <a:endParaRPr lang="zh-CN" altLang="en-US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en-US"/>
              <a:t>RPC</a:t>
            </a:r>
            <a:r>
              <a:rPr lang="zh-CN" altLang="en-US"/>
              <a:t>节点</a:t>
            </a:r>
            <a:r>
              <a:rPr lang="zh-CN" altLang="en-US"/>
              <a:t>超时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46480" cy="6140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PingFang SC" panose="020B0400000000000000" charset="-122"/>
              </a:rPr>
              <a:t>资料</a:t>
            </a:r>
            <a:endParaRPr lang="zh-CN"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zh-CN" altLang="en-US"/>
              <a:t>课程安排及作业</a:t>
            </a:r>
            <a:r>
              <a:rPr lang="en-US" altLang="zh-CN"/>
              <a:t>：https://github.com/Solana-ZH/Solana-bootcamp-2026-s1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en-US"/>
              <a:t>RPC</a:t>
            </a:r>
            <a:r>
              <a:rPr lang="zh-CN" altLang="en-US"/>
              <a:t>第三方节点</a:t>
            </a:r>
            <a:r>
              <a:rPr lang="en-US" altLang="zh-CN"/>
              <a:t>：https://www.helius.dev/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</a:t>
            </a:r>
            <a:r>
              <a:rPr lang="en-US" altLang="zh-CN"/>
              <a:t> </a:t>
            </a:r>
            <a:r>
              <a:rPr lang="zh-CN" altLang="en-US"/>
              <a:t>领水</a:t>
            </a:r>
            <a:r>
              <a:rPr lang="en-US" altLang="zh-CN"/>
              <a:t>：https://faucet.solana.com/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zh-CN" altLang="en-US"/>
              <a:t>环境安装</a:t>
            </a:r>
            <a:r>
              <a:rPr lang="en-US" altLang="zh-CN"/>
              <a:t>：https://solana.com/zh/docs/intro/installation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在线</a:t>
            </a:r>
            <a:r>
              <a:rPr lang="en-US" altLang="zh-CN">
                <a:sym typeface="+mn-ea"/>
              </a:rPr>
              <a:t>IDE：https://beta.solpg.io/</a:t>
            </a:r>
            <a:endParaRPr lang="en-US" altLang="zh-CN"/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en-US" altLang="zh-CN">
                <a:sym typeface="+mn-ea"/>
              </a:rPr>
              <a:t>Task1：https://learn.blueshift.gg/zh-CN/challenges/typescript-mint-an-spl-token/verify</a:t>
            </a:r>
            <a:endParaRPr lang="en-US" altLang="zh-CN">
              <a:sym typeface="+mn-ea"/>
            </a:endParaRPr>
          </a:p>
          <a:p>
            <a:pPr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zh-CN">
                <a:sym typeface="+mn-ea"/>
              </a:rPr>
              <a:t>区块浏览器</a:t>
            </a:r>
            <a:r>
              <a:rPr lang="en-US" altLang="zh-CN">
                <a:sym typeface="+mn-ea"/>
              </a:rPr>
              <a:t>：</a:t>
            </a:r>
            <a:r>
              <a:rPr lang="en-US" altLang="zh-CN"/>
              <a:t>https://explorer.solana.com/?cluster=devnet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WPS 演示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CatCode</cp:lastModifiedBy>
  <cp:revision>20</cp:revision>
  <dcterms:created xsi:type="dcterms:W3CDTF">2026-01-19T13:05:40Z</dcterms:created>
  <dcterms:modified xsi:type="dcterms:W3CDTF">2026-01-19T13:05:40Z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C36F5FC97804071F92F66D6995C590A1_42</vt:lpwstr>
  </property>
  <property fmtid="{D5CDD505-2E9C-101B-9397-08002B2CF9AE}" pid="3" name="KSOProductBuildVer">
    <vt:lpwstr>2052-6.12.2.8699</vt:lpwstr>
  </property>
</Properties>
</file>