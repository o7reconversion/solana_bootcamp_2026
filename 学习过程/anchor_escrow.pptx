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PingFang SC"/>
              </a:defRPr>
            </a:pPr>
            <a:r>
              <a:t>Anchor 托管作业汇报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latin typeface="PingFang SC"/>
              </a:defRPr>
            </a:pPr>
            <a:r>
              <a:t>blueshift_anchor_escrow｜Make / Take / Refund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PingFang SC"/>
              </a:defRPr>
            </a:pPr>
            <a:r>
              <a:t>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PingFang SC"/>
              </a:defRPr>
            </a:pPr>
            <a:r>
              <a:t>使用 Anchor 构建安全的代币交换托管服务</a:t>
            </a:r>
          </a:p>
          <a:p>
            <a:pPr>
              <a:defRPr sz="2000">
                <a:latin typeface="PingFang SC"/>
              </a:defRPr>
            </a:pPr>
            <a:r>
              <a:t>三条核心指令：Make / Take / Refund</a:t>
            </a:r>
          </a:p>
          <a:p>
            <a:pPr>
              <a:defRPr sz="2000">
                <a:latin typeface="PingFang SC"/>
              </a:defRPr>
            </a:pPr>
            <a:r>
              <a:t>自定义指令鉴别器：0/1/2；账户鉴别器：1</a:t>
            </a:r>
          </a:p>
          <a:p>
            <a:pPr>
              <a:defRPr sz="2000">
                <a:latin typeface="PingFang SC"/>
              </a:defRPr>
            </a:pPr>
            <a:r>
              <a:t>基于 token_interface 支持 SPL Token/Token-2022</a:t>
            </a:r>
          </a:p>
          <a:p>
            <a:pPr>
              <a:defRPr sz="2000">
                <a:latin typeface="PingFang SC"/>
              </a:defRPr>
            </a:pPr>
            <a:r>
              <a:t>通过 PDA + ATA 保证资金安全与可验证性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PingFang SC"/>
              </a:defRPr>
            </a:pPr>
            <a:r>
              <a:t>账户与状态设计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PingFang SC"/>
              </a:defRPr>
            </a:pPr>
            <a:r>
              <a:t>Escrow 状态字段：seed / maker / mint_a / mint_b / receive / bump</a:t>
            </a:r>
          </a:p>
          <a:p>
            <a:pPr>
              <a:defRPr sz="2000">
                <a:latin typeface="PingFang SC"/>
              </a:defRPr>
            </a:pPr>
            <a:r>
              <a:t>PDA 派生：["escrow", maker, seed_le] + bump</a:t>
            </a:r>
          </a:p>
          <a:p>
            <a:pPr>
              <a:defRPr sz="2000">
                <a:latin typeface="PingFang SC"/>
              </a:defRPr>
            </a:pPr>
            <a:r>
              <a:t>Vault：ATA(mint_a, escrow) 由 escrow PDA 作为 authority</a:t>
            </a:r>
          </a:p>
          <a:p>
            <a:pPr>
              <a:defRPr sz="2000">
                <a:latin typeface="PingFang SC"/>
              </a:defRPr>
            </a:pPr>
            <a:r>
              <a:t>Maker/Taker ATA：使用 associated_token_program 创建</a:t>
            </a:r>
          </a:p>
          <a:p>
            <a:pPr>
              <a:defRPr sz="2000">
                <a:latin typeface="PingFang SC"/>
              </a:defRPr>
            </a:pPr>
            <a:r>
              <a:t>Take/Refund 中 escrow 可关闭并返还租金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PingFang SC"/>
              </a:defRPr>
            </a:pPr>
            <a:r>
              <a:t>总体流程图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PingFang SC"/>
              </a:defRPr>
            </a:pPr>
            <a:r>
              <a:t>Maker</a:t>
            </a:r>
          </a:p>
          <a:p>
            <a:pPr algn="ctr">
              <a:defRPr sz="1400">
                <a:latin typeface="PingFang SC"/>
              </a:defRPr>
            </a:pPr>
            <a:r>
              <a:t>(创建者)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46304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PingFang SC"/>
              </a:defRPr>
            </a:pPr>
            <a:r>
              <a:t>Make</a:t>
            </a:r>
          </a:p>
          <a:p>
            <a:pPr algn="ctr">
              <a:defRPr sz="1400">
                <a:latin typeface="PingFang SC"/>
              </a:defRPr>
            </a:pPr>
            <a:r>
              <a:t>(创建报价)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46304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PingFang SC"/>
              </a:defRPr>
            </a:pPr>
            <a:r>
              <a:t>Escrow + Vault</a:t>
            </a:r>
          </a:p>
          <a:p>
            <a:pPr algn="ctr">
              <a:defRPr sz="1400">
                <a:latin typeface="PingFang SC"/>
              </a:defRPr>
            </a:pPr>
            <a:r>
              <a:t>锁定 Token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187452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212080" y="187452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92608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PingFang SC"/>
              </a:defRPr>
            </a:pPr>
            <a:r>
              <a:t>Taker</a:t>
            </a:r>
          </a:p>
          <a:p>
            <a:pPr algn="ctr">
              <a:defRPr sz="1400">
                <a:latin typeface="PingFang SC"/>
              </a:defRPr>
            </a:pPr>
            <a:r>
              <a:t>(接受者)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92608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PingFang SC"/>
              </a:defRPr>
            </a:pPr>
            <a:r>
              <a:t>Take</a:t>
            </a:r>
          </a:p>
          <a:p>
            <a:pPr algn="ctr">
              <a:defRPr sz="1400">
                <a:latin typeface="PingFang SC"/>
              </a:defRPr>
            </a:pPr>
            <a:r>
              <a:t>(接受报价)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92608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PingFang SC"/>
              </a:defRPr>
            </a:pPr>
            <a:r>
              <a:t>交换完成</a:t>
            </a:r>
          </a:p>
          <a:p>
            <a:pPr algn="ctr">
              <a:defRPr sz="1400">
                <a:latin typeface="PingFang SC"/>
              </a:defRPr>
            </a:pPr>
            <a:r>
              <a:t>B→Maker / A→Taker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333756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12080" y="333756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17520" y="438912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PingFang SC"/>
              </a:defRPr>
            </a:pPr>
            <a:r>
              <a:t>Refund</a:t>
            </a:r>
          </a:p>
          <a:p>
            <a:pPr algn="ctr">
              <a:defRPr sz="1400">
                <a:latin typeface="PingFang SC"/>
              </a:defRPr>
            </a:pPr>
            <a:r>
              <a:t>(取消报价)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389120"/>
            <a:ext cx="21945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PingFang SC"/>
              </a:defRPr>
            </a:pPr>
            <a:r>
              <a:t>退回 Token A</a:t>
            </a:r>
          </a:p>
          <a:p>
            <a:pPr algn="ctr">
              <a:defRPr sz="1400">
                <a:latin typeface="PingFang SC"/>
              </a:defRPr>
            </a:pPr>
            <a:r>
              <a:t>关闭 Vault + Escrow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12080" y="480060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PingFang SC"/>
              </a:defRPr>
            </a:pPr>
            <a:r>
              <a:t>Make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PingFang SC"/>
              </a:defRPr>
            </a:pPr>
            <a:r>
              <a:t>校验参数：receive 与 deposit &gt; 0</a:t>
            </a:r>
          </a:p>
          <a:p>
            <a:pPr>
              <a:defRPr sz="2000">
                <a:latin typeface="PingFang SC"/>
              </a:defRPr>
            </a:pPr>
            <a:r>
              <a:t>初始化 Escrow PDA（保存 seed/mint/maker/receive/bump）</a:t>
            </a:r>
          </a:p>
          <a:p>
            <a:pPr>
              <a:defRPr sz="2000">
                <a:latin typeface="PingFang SC"/>
              </a:defRPr>
            </a:pPr>
            <a:r>
              <a:t>创建 Vault ATA（authority=escrow）</a:t>
            </a:r>
          </a:p>
          <a:p>
            <a:pPr>
              <a:defRPr sz="2000">
                <a:latin typeface="PingFang SC"/>
              </a:defRPr>
            </a:pPr>
            <a:r>
              <a:t>transfer_checked：maker_ata_a → vault</a:t>
            </a:r>
          </a:p>
          <a:p>
            <a:pPr>
              <a:defRPr sz="2000">
                <a:latin typeface="PingFang SC"/>
              </a:defRPr>
            </a:pPr>
            <a:r>
              <a:t>完成后：报价生效，Token A 被锁定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PingFang SC"/>
              </a:defRPr>
            </a:pPr>
            <a:r>
              <a:t>Take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PingFang SC"/>
              </a:defRPr>
            </a:pPr>
            <a:r>
              <a:t>taker 付款：transfer_checked (taker_ata_b → maker_ata_b)</a:t>
            </a:r>
          </a:p>
          <a:p>
            <a:pPr>
              <a:defRPr sz="2000">
                <a:latin typeface="PingFang SC"/>
              </a:defRPr>
            </a:pPr>
            <a:r>
              <a:t>escrow PDA 签名：vault → taker_ata_a</a:t>
            </a:r>
          </a:p>
          <a:p>
            <a:pPr>
              <a:defRPr sz="2000">
                <a:latin typeface="PingFang SC"/>
              </a:defRPr>
            </a:pPr>
            <a:r>
              <a:t>关闭 Vault，返还 lamports 给 maker</a:t>
            </a:r>
          </a:p>
          <a:p>
            <a:pPr>
              <a:defRPr sz="2000">
                <a:latin typeface="PingFang SC"/>
              </a:defRPr>
            </a:pPr>
            <a:r>
              <a:t>关闭 Escrow，交易完成</a:t>
            </a:r>
          </a:p>
          <a:p>
            <a:pPr>
              <a:defRPr sz="2000">
                <a:latin typeface="PingFang SC"/>
              </a:defRPr>
            </a:pPr>
            <a:r>
              <a:t>taker/maker 的 ATA 可 init_if_needed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PingFang SC"/>
              </a:defRPr>
            </a:pPr>
            <a:r>
              <a:t>Refund 流程与测试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PingFang SC"/>
              </a:defRPr>
            </a:pPr>
            <a:r>
              <a:t>refund：vault → maker_ata_a（如有余额）</a:t>
            </a:r>
          </a:p>
          <a:p>
            <a:pPr>
              <a:defRPr sz="2000">
                <a:latin typeface="PingFang SC"/>
              </a:defRPr>
            </a:pPr>
            <a:r>
              <a:t>关闭 Vault + Escrow，返还租金</a:t>
            </a:r>
          </a:p>
          <a:p>
            <a:pPr>
              <a:defRPr sz="2000">
                <a:latin typeface="PingFang SC"/>
              </a:defRPr>
            </a:pPr>
            <a:r>
              <a:t>测试基于 localnet：make + refund / make + take</a:t>
            </a:r>
          </a:p>
          <a:p>
            <a:pPr>
              <a:defRPr sz="2000">
                <a:latin typeface="PingFang SC"/>
              </a:defRPr>
            </a:pPr>
            <a:r>
              <a:t>测试关注点：ATA 创建、PDA seed、确认交易</a:t>
            </a:r>
          </a:p>
          <a:p>
            <a:pPr>
              <a:defRPr sz="2000">
                <a:latin typeface="PingFang SC"/>
              </a:defRPr>
            </a:pPr>
            <a:r>
              <a:t>结果：验证资金流与账户关闭逻辑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